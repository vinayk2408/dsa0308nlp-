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83" r:id="rId4"/>
    <p:sldId id="282" r:id="rId5"/>
    <p:sldId id="281" r:id="rId6"/>
    <p:sldId id="280" r:id="rId7"/>
    <p:sldId id="279" r:id="rId8"/>
    <p:sldId id="278" r:id="rId9"/>
    <p:sldId id="277" r:id="rId10"/>
    <p:sldId id="276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C7E470-C260-465D-9D09-CE1F6478B867}" v="4" dt="2026-08-03T04:06:08.956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84" d="100"/>
          <a:sy n="84" d="100"/>
        </p:scale>
        <p:origin x="54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day kumar reddy rachapalli" userId="f70468160f2b78cf" providerId="LiveId" clId="{0D535B87-A346-4DEC-A4D6-F96D326BB23B}"/>
    <pc:docChg chg="custSel delSld modSld">
      <pc:chgData name="uday kumar reddy rachapalli" userId="f70468160f2b78cf" providerId="LiveId" clId="{0D535B87-A346-4DEC-A4D6-F96D326BB23B}" dt="2026-08-03T04:07:23.502" v="113" actId="47"/>
      <pc:docMkLst>
        <pc:docMk/>
      </pc:docMkLst>
      <pc:sldChg chg="modSp mod">
        <pc:chgData name="uday kumar reddy rachapalli" userId="f70468160f2b78cf" providerId="LiveId" clId="{0D535B87-A346-4DEC-A4D6-F96D326BB23B}" dt="2026-08-03T03:44:41.070" v="0" actId="1076"/>
        <pc:sldMkLst>
          <pc:docMk/>
          <pc:sldMk cId="3487018831" sldId="257"/>
        </pc:sldMkLst>
        <pc:spChg chg="mod">
          <ac:chgData name="uday kumar reddy rachapalli" userId="f70468160f2b78cf" providerId="LiveId" clId="{0D535B87-A346-4DEC-A4D6-F96D326BB23B}" dt="2026-08-03T03:44:41.070" v="0" actId="1076"/>
          <ac:spMkLst>
            <pc:docMk/>
            <pc:sldMk cId="3487018831" sldId="257"/>
            <ac:spMk id="9" creationId="{94B45580-4DB2-D7B4-EDB2-E2D1A41CCA43}"/>
          </ac:spMkLst>
        </pc:spChg>
      </pc:sldChg>
      <pc:sldChg chg="addSp modSp mod">
        <pc:chgData name="uday kumar reddy rachapalli" userId="f70468160f2b78cf" providerId="LiveId" clId="{0D535B87-A346-4DEC-A4D6-F96D326BB23B}" dt="2026-08-03T03:55:07.042" v="40" actId="1076"/>
        <pc:sldMkLst>
          <pc:docMk/>
          <pc:sldMk cId="3587044029" sldId="258"/>
        </pc:sldMkLst>
        <pc:spChg chg="mod">
          <ac:chgData name="uday kumar reddy rachapalli" userId="f70468160f2b78cf" providerId="LiveId" clId="{0D535B87-A346-4DEC-A4D6-F96D326BB23B}" dt="2026-08-03T03:55:07.042" v="40" actId="1076"/>
          <ac:spMkLst>
            <pc:docMk/>
            <pc:sldMk cId="3587044029" sldId="258"/>
            <ac:spMk id="11" creationId="{FF9F535F-097F-B75E-7EF7-699D45D98277}"/>
          </ac:spMkLst>
        </pc:spChg>
        <pc:picChg chg="add mod">
          <ac:chgData name="uday kumar reddy rachapalli" userId="f70468160f2b78cf" providerId="LiveId" clId="{0D535B87-A346-4DEC-A4D6-F96D326BB23B}" dt="2026-08-03T03:54:22.101" v="34" actId="1076"/>
          <ac:picMkLst>
            <pc:docMk/>
            <pc:sldMk cId="3587044029" sldId="258"/>
            <ac:picMk id="2" creationId="{00E3B1AD-36A8-D99E-5CD3-A4ACD102DA73}"/>
          </ac:picMkLst>
        </pc:picChg>
      </pc:sldChg>
      <pc:sldChg chg="modSp del mod">
        <pc:chgData name="uday kumar reddy rachapalli" userId="f70468160f2b78cf" providerId="LiveId" clId="{0D535B87-A346-4DEC-A4D6-F96D326BB23B}" dt="2026-08-03T04:07:23.502" v="113" actId="47"/>
        <pc:sldMkLst>
          <pc:docMk/>
          <pc:sldMk cId="435929071" sldId="259"/>
        </pc:sldMkLst>
        <pc:spChg chg="mod">
          <ac:chgData name="uday kumar reddy rachapalli" userId="f70468160f2b78cf" providerId="LiveId" clId="{0D535B87-A346-4DEC-A4D6-F96D326BB23B}" dt="2026-08-03T04:06:51.255" v="112" actId="20577"/>
          <ac:spMkLst>
            <pc:docMk/>
            <pc:sldMk cId="435929071" sldId="259"/>
            <ac:spMk id="3" creationId="{A4EC5B10-435D-BB56-7185-8C3BD684DB39}"/>
          </ac:spMkLst>
        </pc:spChg>
      </pc:sldChg>
      <pc:sldChg chg="addSp modSp mod">
        <pc:chgData name="uday kumar reddy rachapalli" userId="f70468160f2b78cf" providerId="LiveId" clId="{0D535B87-A346-4DEC-A4D6-F96D326BB23B}" dt="2026-08-03T03:51:47.567" v="27" actId="1076"/>
        <pc:sldMkLst>
          <pc:docMk/>
          <pc:sldMk cId="2475028433" sldId="260"/>
        </pc:sldMkLst>
        <pc:spChg chg="mod">
          <ac:chgData name="uday kumar reddy rachapalli" userId="f70468160f2b78cf" providerId="LiveId" clId="{0D535B87-A346-4DEC-A4D6-F96D326BB23B}" dt="2026-08-03T03:51:47.567" v="27" actId="1076"/>
          <ac:spMkLst>
            <pc:docMk/>
            <pc:sldMk cId="2475028433" sldId="260"/>
            <ac:spMk id="2" creationId="{D8168552-087C-E936-7BBA-FD7DE8F8B383}"/>
          </ac:spMkLst>
        </pc:spChg>
        <pc:spChg chg="mod">
          <ac:chgData name="uday kumar reddy rachapalli" userId="f70468160f2b78cf" providerId="LiveId" clId="{0D535B87-A346-4DEC-A4D6-F96D326BB23B}" dt="2026-08-03T03:51:35.178" v="24" actId="14100"/>
          <ac:spMkLst>
            <pc:docMk/>
            <pc:sldMk cId="2475028433" sldId="260"/>
            <ac:spMk id="3" creationId="{986A8292-58D5-9C03-BC90-B7F73A11A9EC}"/>
          </ac:spMkLst>
        </pc:spChg>
        <pc:picChg chg="add mod">
          <ac:chgData name="uday kumar reddy rachapalli" userId="f70468160f2b78cf" providerId="LiveId" clId="{0D535B87-A346-4DEC-A4D6-F96D326BB23B}" dt="2026-08-03T03:51:21.483" v="21" actId="1076"/>
          <ac:picMkLst>
            <pc:docMk/>
            <pc:sldMk cId="2475028433" sldId="260"/>
            <ac:picMk id="4" creationId="{82B73145-2314-0EF3-01CC-02E641550AFD}"/>
          </ac:picMkLst>
        </pc:picChg>
      </pc:sldChg>
      <pc:sldChg chg="addSp modSp mod">
        <pc:chgData name="uday kumar reddy rachapalli" userId="f70468160f2b78cf" providerId="LiveId" clId="{0D535B87-A346-4DEC-A4D6-F96D326BB23B}" dt="2026-08-03T03:58:34.738" v="58" actId="2711"/>
        <pc:sldMkLst>
          <pc:docMk/>
          <pc:sldMk cId="1546813247" sldId="262"/>
        </pc:sldMkLst>
        <pc:spChg chg="mod">
          <ac:chgData name="uday kumar reddy rachapalli" userId="f70468160f2b78cf" providerId="LiveId" clId="{0D535B87-A346-4DEC-A4D6-F96D326BB23B}" dt="2026-08-03T03:58:34.738" v="58" actId="2711"/>
          <ac:spMkLst>
            <pc:docMk/>
            <pc:sldMk cId="1546813247" sldId="262"/>
            <ac:spMk id="3" creationId="{1D41EBAC-4CCC-6384-954F-7AB30A0EE5A6}"/>
          </ac:spMkLst>
        </pc:spChg>
        <pc:picChg chg="add mod">
          <ac:chgData name="uday kumar reddy rachapalli" userId="f70468160f2b78cf" providerId="LiveId" clId="{0D535B87-A346-4DEC-A4D6-F96D326BB23B}" dt="2026-08-03T03:56:04.345" v="47" actId="1076"/>
          <ac:picMkLst>
            <pc:docMk/>
            <pc:sldMk cId="1546813247" sldId="262"/>
            <ac:picMk id="4" creationId="{123B2029-32CA-7B28-733C-1E43BA1187C3}"/>
          </ac:picMkLst>
        </pc:picChg>
      </pc:sldChg>
      <pc:sldChg chg="addSp modSp mod">
        <pc:chgData name="uday kumar reddy rachapalli" userId="f70468160f2b78cf" providerId="LiveId" clId="{0D535B87-A346-4DEC-A4D6-F96D326BB23B}" dt="2026-08-03T04:02:22.419" v="70" actId="14100"/>
        <pc:sldMkLst>
          <pc:docMk/>
          <pc:sldMk cId="3860991386" sldId="264"/>
        </pc:sldMkLst>
        <pc:spChg chg="mod">
          <ac:chgData name="uday kumar reddy rachapalli" userId="f70468160f2b78cf" providerId="LiveId" clId="{0D535B87-A346-4DEC-A4D6-F96D326BB23B}" dt="2026-08-03T04:02:18.738" v="69" actId="2710"/>
          <ac:spMkLst>
            <pc:docMk/>
            <pc:sldMk cId="3860991386" sldId="264"/>
            <ac:spMk id="3" creationId="{9D8D3146-158A-B15E-9F18-8D414AC3A5AB}"/>
          </ac:spMkLst>
        </pc:spChg>
        <pc:picChg chg="add mod">
          <ac:chgData name="uday kumar reddy rachapalli" userId="f70468160f2b78cf" providerId="LiveId" clId="{0D535B87-A346-4DEC-A4D6-F96D326BB23B}" dt="2026-08-03T04:02:22.419" v="70" actId="14100"/>
          <ac:picMkLst>
            <pc:docMk/>
            <pc:sldMk cId="3860991386" sldId="264"/>
            <ac:picMk id="4" creationId="{AA8DBFFC-A951-F2A2-B44F-D37236736686}"/>
          </ac:picMkLst>
        </pc:picChg>
      </pc:sldChg>
      <pc:sldChg chg="addSp modSp mod">
        <pc:chgData name="uday kumar reddy rachapalli" userId="f70468160f2b78cf" providerId="LiveId" clId="{0D535B87-A346-4DEC-A4D6-F96D326BB23B}" dt="2026-08-03T04:03:25.954" v="80" actId="1076"/>
        <pc:sldMkLst>
          <pc:docMk/>
          <pc:sldMk cId="3469577075" sldId="265"/>
        </pc:sldMkLst>
        <pc:spChg chg="mod">
          <ac:chgData name="uday kumar reddy rachapalli" userId="f70468160f2b78cf" providerId="LiveId" clId="{0D535B87-A346-4DEC-A4D6-F96D326BB23B}" dt="2026-08-03T04:03:25.954" v="80" actId="1076"/>
          <ac:spMkLst>
            <pc:docMk/>
            <pc:sldMk cId="3469577075" sldId="265"/>
            <ac:spMk id="3" creationId="{5E32A676-C332-C639-0F80-C2758E944BE6}"/>
          </ac:spMkLst>
        </pc:spChg>
        <pc:picChg chg="add mod">
          <ac:chgData name="uday kumar reddy rachapalli" userId="f70468160f2b78cf" providerId="LiveId" clId="{0D535B87-A346-4DEC-A4D6-F96D326BB23B}" dt="2026-08-03T04:03:16.633" v="77" actId="14100"/>
          <ac:picMkLst>
            <pc:docMk/>
            <pc:sldMk cId="3469577075" sldId="265"/>
            <ac:picMk id="4" creationId="{CF01C6E3-2765-D3A6-80ED-D5135B7D5BB2}"/>
          </ac:picMkLst>
        </pc:picChg>
      </pc:sldChg>
      <pc:sldChg chg="addSp modSp mod">
        <pc:chgData name="uday kumar reddy rachapalli" userId="f70468160f2b78cf" providerId="LiveId" clId="{0D535B87-A346-4DEC-A4D6-F96D326BB23B}" dt="2026-08-03T04:04:47.736" v="91" actId="1076"/>
        <pc:sldMkLst>
          <pc:docMk/>
          <pc:sldMk cId="2554465145" sldId="266"/>
        </pc:sldMkLst>
        <pc:spChg chg="mod">
          <ac:chgData name="uday kumar reddy rachapalli" userId="f70468160f2b78cf" providerId="LiveId" clId="{0D535B87-A346-4DEC-A4D6-F96D326BB23B}" dt="2026-08-03T04:04:47.736" v="91" actId="1076"/>
          <ac:spMkLst>
            <pc:docMk/>
            <pc:sldMk cId="2554465145" sldId="266"/>
            <ac:spMk id="3" creationId="{6E62464F-7B6A-B8CC-CE85-425B8A28B6BF}"/>
          </ac:spMkLst>
        </pc:spChg>
        <pc:picChg chg="add mod">
          <ac:chgData name="uday kumar reddy rachapalli" userId="f70468160f2b78cf" providerId="LiveId" clId="{0D535B87-A346-4DEC-A4D6-F96D326BB23B}" dt="2026-08-03T04:04:37.549" v="86" actId="1076"/>
          <ac:picMkLst>
            <pc:docMk/>
            <pc:sldMk cId="2554465145" sldId="266"/>
            <ac:picMk id="4" creationId="{E6187D59-88CE-1059-AE25-C2C58A6B69FC}"/>
          </ac:picMkLst>
        </pc:picChg>
      </pc:sldChg>
      <pc:sldChg chg="addSp modSp mod">
        <pc:chgData name="uday kumar reddy rachapalli" userId="f70468160f2b78cf" providerId="LiveId" clId="{0D535B87-A346-4DEC-A4D6-F96D326BB23B}" dt="2026-08-03T04:05:35.185" v="101" actId="1076"/>
        <pc:sldMkLst>
          <pc:docMk/>
          <pc:sldMk cId="3876191375" sldId="267"/>
        </pc:sldMkLst>
        <pc:spChg chg="mod">
          <ac:chgData name="uday kumar reddy rachapalli" userId="f70468160f2b78cf" providerId="LiveId" clId="{0D535B87-A346-4DEC-A4D6-F96D326BB23B}" dt="2026-08-03T04:05:35.185" v="101" actId="1076"/>
          <ac:spMkLst>
            <pc:docMk/>
            <pc:sldMk cId="3876191375" sldId="267"/>
            <ac:spMk id="3" creationId="{3E564A79-AB3A-5519-78AC-25D3540C4BE9}"/>
          </ac:spMkLst>
        </pc:spChg>
        <pc:picChg chg="add mod">
          <ac:chgData name="uday kumar reddy rachapalli" userId="f70468160f2b78cf" providerId="LiveId" clId="{0D535B87-A346-4DEC-A4D6-F96D326BB23B}" dt="2026-08-03T04:05:27.759" v="98" actId="1076"/>
          <ac:picMkLst>
            <pc:docMk/>
            <pc:sldMk cId="3876191375" sldId="267"/>
            <ac:picMk id="4" creationId="{0BE0B58F-B945-7DF8-3059-1758B371B901}"/>
          </ac:picMkLst>
        </pc:picChg>
      </pc:sldChg>
      <pc:sldChg chg="modSp mod">
        <pc:chgData name="uday kumar reddy rachapalli" userId="f70468160f2b78cf" providerId="LiveId" clId="{0D535B87-A346-4DEC-A4D6-F96D326BB23B}" dt="2026-08-03T04:06:36.406" v="110" actId="1076"/>
        <pc:sldMkLst>
          <pc:docMk/>
          <pc:sldMk cId="1524314124" sldId="268"/>
        </pc:sldMkLst>
        <pc:spChg chg="mod">
          <ac:chgData name="uday kumar reddy rachapalli" userId="f70468160f2b78cf" providerId="LiveId" clId="{0D535B87-A346-4DEC-A4D6-F96D326BB23B}" dt="2026-08-03T04:06:36.406" v="110" actId="1076"/>
          <ac:spMkLst>
            <pc:docMk/>
            <pc:sldMk cId="1524314124" sldId="268"/>
            <ac:spMk id="2" creationId="{641D4CC2-A8E0-E14B-CAFA-099FDAE2EAD8}"/>
          </ac:spMkLst>
        </pc:spChg>
        <pc:spChg chg="mod">
          <ac:chgData name="uday kumar reddy rachapalli" userId="f70468160f2b78cf" providerId="LiveId" clId="{0D535B87-A346-4DEC-A4D6-F96D326BB23B}" dt="2026-08-03T04:06:22.822" v="106" actId="1076"/>
          <ac:spMkLst>
            <pc:docMk/>
            <pc:sldMk cId="1524314124" sldId="268"/>
            <ac:spMk id="3" creationId="{C4AF12D1-2784-6CB7-67BD-674B66BFB83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80CB0-28C0-40D3-9985-98F615A9097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71CAC-63A5-4425-9925-B6FCC9AAD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467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71CAC-63A5-4425-9925-B6FCC9AADBF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271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9BD74-EC21-3DDF-3AC9-F967C0D296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76DFE1-B8AB-7B8C-A8D2-E1753B8EAE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CBB97-B3C1-18BA-20C2-F8D58163C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0C6B-25F4-4742-94FF-B5D2A957722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8FC7-5114-CC70-A584-4F64CDC78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4C22B-A501-573E-57D5-A9A5E10CA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84EF9-5780-4F5C-836D-C06D435C8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80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3F45D-204E-F986-9F74-36D16D120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4C05F-C1FA-3651-756A-C56B313EF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936ED-B4E3-E869-6A6C-72C624B43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0C6B-25F4-4742-94FF-B5D2A957722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3A4DE-2F05-E735-1117-F442BA542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44699-2B05-D269-E097-4E4EE5878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84EF9-5780-4F5C-836D-C06D435C8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643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39F9A-6CB8-CB1D-DA2B-FAC4ABA47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441D9-5FEE-939A-5A95-D39F66366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78436-CCAD-6859-E558-57A4C3429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0C6B-25F4-4742-94FF-B5D2A957722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E3F54-DD88-93D3-5F2B-E14A64D8A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DF311-AA9D-3744-9DAA-F25D78CF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84EF9-5780-4F5C-836D-C06D435C8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920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F1888-4221-9520-9829-3D1E43C1C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05872-74B7-09C0-E86A-3ADAF72A9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E72831-1E09-67CB-56BF-DFC869FA5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27F6B-A1B3-1783-A8FD-BD2FFB5A4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0C6B-25F4-4742-94FF-B5D2A957722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3C738-BFF7-42DC-5C71-90C654752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F0577-6F8D-9306-41DD-1E6014BB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84EF9-5780-4F5C-836D-C06D435C8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886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D5A07-975F-FE0F-2351-4251448CB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63CDA-5FB6-6F6A-48C5-3C31A1462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A2CA1-6282-9E84-C1BD-3231AA379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A45BC-87AB-44D5-9222-6E34CA9A9B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030448-B668-FB55-1925-29CC4BCC46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C4BDB6-9DA6-F1BD-1CBD-47F2DD9BA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0C6B-25F4-4742-94FF-B5D2A957722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512B96-723A-EB20-FF6F-7FF83E4E6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60DF0A-FEBC-2AA9-661E-7A716134A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84EF9-5780-4F5C-836D-C06D435C8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165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046F-5B2F-61B0-F7DA-043DAB1F9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4419F8-425C-719C-30D7-79730A768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0C6B-25F4-4742-94FF-B5D2A957722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83A622-B3AC-9B92-CFBB-9BA181D4D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2C1981-071A-91DA-9F5B-9F8D02F8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84EF9-5780-4F5C-836D-C06D435C8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509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CA0191-BD77-3AC1-0EB9-C4B0AF3AF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0C6B-25F4-4742-94FF-B5D2A957722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EE81A1-4F72-7C30-8219-41A1BCE35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72C37-91CD-D7B3-E2E0-E098A11DD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84EF9-5780-4F5C-836D-C06D435C8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746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E8314-1E5F-9DEA-B699-1E5929C2B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E043A-53B8-8AC0-A41D-13721073D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C88926-C3E6-807B-28EC-AD4716604E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2223A-8F16-15A3-DEA6-0939DAD83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0C6B-25F4-4742-94FF-B5D2A957722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391E7-B709-BDBB-3A7D-F465A1CF0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885B5-A5AE-81A1-4103-B58B0235D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84EF9-5780-4F5C-836D-C06D435C8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513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74E73-5AAB-1DA3-C654-EED2569F5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8AB978-8AB2-E355-C4AA-6744BDA5B5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6896E8-3BE2-55BE-7BFA-DF928BA493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154A2-F270-3F78-F14A-130512A3B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0C6B-25F4-4742-94FF-B5D2A957722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54737-26B4-16BD-02A8-FD50B6E8B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4C1FF-FE87-9B17-4B59-FD844237A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84EF9-5780-4F5C-836D-C06D435C8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01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D5A63-2CE1-AF6E-988C-865C8AFA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A349D-CC8F-6C1E-4533-FEC1519D9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D44FE-BF38-AB89-450D-02BC0139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0C6B-25F4-4742-94FF-B5D2A957722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2790B-C70D-A0CC-1635-8E507B49D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5EA83-894F-6EE7-6C49-A1A565516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84EF9-5780-4F5C-836D-C06D435C8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257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98ACC7-CD08-034F-646F-24FDB861AA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490B8-9862-31CE-10D1-982454018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6FE98-6A8C-24DE-6D82-EF1201F36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0C6B-25F4-4742-94FF-B5D2A957722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2F418-8479-0A09-D4A7-03DFABE9F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6304F-CC50-192B-C226-5C3289CC1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84EF9-5780-4F5C-836D-C06D435C8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03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E6F30A-F9F6-37A0-6F61-D8509C0BE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0DE64-0B80-962D-5B92-837B31023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2ABE6-BE2C-CCA8-A963-6A2F170905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30C6B-25F4-4742-94FF-B5D2A9577226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B7163-C5A9-8B4F-969B-67C268EBB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E8B48-663D-901D-CAD4-29C123FC11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84EF9-5780-4F5C-836D-C06D435C8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529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0D4E0279-78CA-5729-5167-B0CE6D3850B5}"/>
              </a:ext>
            </a:extLst>
          </p:cNvPr>
          <p:cNvSpPr txBox="1">
            <a:spLocks/>
          </p:cNvSpPr>
          <p:nvPr/>
        </p:nvSpPr>
        <p:spPr>
          <a:xfrm>
            <a:off x="448056" y="460998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6525" lvl="1" indent="0">
              <a:spcBef>
                <a:spcPts val="550"/>
              </a:spcBef>
              <a:buNone/>
            </a:pPr>
            <a:r>
              <a:rPr lang="en-US" sz="1800" b="1" dirty="0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SUPERVISOR	</a:t>
            </a:r>
          </a:p>
          <a:p>
            <a:pPr marL="136525" lvl="1" indent="0">
              <a:spcBef>
                <a:spcPts val="550"/>
              </a:spcBef>
              <a:buNone/>
            </a:pPr>
            <a:r>
              <a:rPr lang="en-US" sz="1800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PROF. SARVANAN.M.S</a:t>
            </a:r>
          </a:p>
          <a:p>
            <a:pPr marL="136525" lvl="1" indent="0">
              <a:spcBef>
                <a:spcPts val="550"/>
              </a:spcBef>
              <a:buNone/>
            </a:pPr>
            <a:r>
              <a:rPr lang="en-US" sz="1800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SAVEETHA SCHOOL OF ENGINEERING </a:t>
            </a:r>
          </a:p>
          <a:p>
            <a:endParaRPr lang="en-IN" dirty="0"/>
          </a:p>
        </p:txBody>
      </p:sp>
      <p:pic>
        <p:nvPicPr>
          <p:cNvPr id="7" name="Google Shape;100;p13" descr="SSE-Computer Science and Engineering">
            <a:extLst>
              <a:ext uri="{FF2B5EF4-FFF2-40B4-BE49-F238E27FC236}">
                <a16:creationId xmlns:a16="http://schemas.microsoft.com/office/drawing/2014/main" id="{79FEA135-29FD-ED39-F200-71E3A93B29FB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05256" y="33801"/>
            <a:ext cx="9851136" cy="120032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B45580-4DB2-D7B4-EDB2-E2D1A41CCA43}"/>
              </a:ext>
            </a:extLst>
          </p:cNvPr>
          <p:cNvSpPr txBox="1"/>
          <p:nvPr/>
        </p:nvSpPr>
        <p:spPr>
          <a:xfrm>
            <a:off x="8153401" y="4609988"/>
            <a:ext cx="5358581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125" lvl="1">
              <a:spcBef>
                <a:spcPts val="550"/>
              </a:spcBef>
            </a:pPr>
            <a:r>
              <a:rPr lang="en-US" b="1" dirty="0">
                <a:solidFill>
                  <a:srgbClr val="C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PRESENTED BY</a:t>
            </a:r>
            <a:endParaRPr lang="en-US" sz="1800" b="1" dirty="0">
              <a:solidFill>
                <a:srgbClr val="C00000"/>
              </a:solidFill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365125" lvl="1">
              <a:spcBef>
                <a:spcPts val="550"/>
              </a:spcBef>
            </a:pPr>
            <a:r>
              <a:rPr lang="en-US" sz="1800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Raihan Hussain (192425342)</a:t>
            </a:r>
          </a:p>
          <a:p>
            <a:pPr marL="365125" lvl="1">
              <a:spcBef>
                <a:spcPts val="550"/>
              </a:spcBef>
            </a:pPr>
            <a:r>
              <a:rPr lang="en-US" sz="1800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K Vinay (192425034)</a:t>
            </a:r>
          </a:p>
          <a:p>
            <a:pPr marL="365125" lvl="1">
              <a:spcBef>
                <a:spcPts val="550"/>
              </a:spcBef>
            </a:pPr>
            <a:r>
              <a:rPr lang="en-US" sz="1800" b="1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Pavan J (192472313)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CE4731-7923-5732-5FC7-02242AB963CB}"/>
              </a:ext>
            </a:extLst>
          </p:cNvPr>
          <p:cNvSpPr txBox="1"/>
          <p:nvPr/>
        </p:nvSpPr>
        <p:spPr>
          <a:xfrm>
            <a:off x="0" y="1721730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Inflectional Morphology: Understanding</a:t>
            </a:r>
          </a:p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Grammatical Variations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98C0F3-91CE-41E5-DCBF-1E6A03ED393B}"/>
              </a:ext>
            </a:extLst>
          </p:cNvPr>
          <p:cNvSpPr txBox="1"/>
          <p:nvPr/>
        </p:nvSpPr>
        <p:spPr>
          <a:xfrm>
            <a:off x="1890445" y="2967335"/>
            <a:ext cx="8411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DSA0308-Natural Language Processing</a:t>
            </a:r>
          </a:p>
        </p:txBody>
      </p:sp>
    </p:spTree>
    <p:extLst>
      <p:ext uri="{BB962C8B-B14F-4D97-AF65-F5344CB8AC3E}">
        <p14:creationId xmlns:p14="http://schemas.microsoft.com/office/powerpoint/2010/main" val="3487018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7C4707B-95E5-AC15-5FAE-BB8BD74E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484" y="18255"/>
            <a:ext cx="9300000" cy="1325563"/>
          </a:xfrm>
        </p:spPr>
        <p:txBody>
          <a:bodyPr/>
          <a:lstStyle/>
          <a:p>
            <a:r>
              <a:rPr lang="en-US" sz="44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Theory</a:t>
            </a:r>
            <a:endParaRPr lang="en-IN" dirty="0"/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BE14C153-2D51-DB52-CEE1-128F3CD5A2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46" y="91100"/>
            <a:ext cx="1014499" cy="1179871"/>
          </a:xfrm>
          <a:prstGeom prst="rect">
            <a:avLst/>
          </a:prstGeom>
        </p:spPr>
      </p:pic>
      <p:pic>
        <p:nvPicPr>
          <p:cNvPr id="15" name="object 5">
            <a:extLst>
              <a:ext uri="{FF2B5EF4-FFF2-40B4-BE49-F238E27FC236}">
                <a16:creationId xmlns:a16="http://schemas.microsoft.com/office/drawing/2014/main" id="{F5FFAD91-94BD-EEB3-DB82-D5153B5B1A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5819" y="91099"/>
            <a:ext cx="1396181" cy="11798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EF45AD-2205-914D-6F88-AB844FAEF899}"/>
              </a:ext>
            </a:extLst>
          </p:cNvPr>
          <p:cNvSpPr txBox="1"/>
          <p:nvPr/>
        </p:nvSpPr>
        <p:spPr>
          <a:xfrm>
            <a:off x="96546" y="1524245"/>
            <a:ext cx="7050000" cy="5000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Morphology studies how words are built from smaller meaningful units called morphemes.</a:t>
            </a:r>
          </a:p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Inflection changes the form of a word to express grammatical information, while its core meaning and word class stay the same.</a:t>
            </a:r>
          </a:p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Derivation creates a new word and often changes the class (teach → teacher).</a:t>
            </a:r>
          </a:p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inflectional categories are tense, number, gender and case, along with person, aspect and mood.</a:t>
            </a:r>
          </a:p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 differ in strategy: isolating, fusional, agglutinative and polysynthetic.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50000" y="1650000"/>
            <a:ext cx="4300000" cy="23000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0000" tIns="60000" rIns="130000" bIns="60000" rtlCol="0" anchor="t"/>
          <a:lstStyle/>
          <a:p>
            <a:pPr algn="l">
              <a:spcAft>
                <a:spcPts val="900"/>
              </a:spcAft>
            </a:pPr>
            <a:r>
              <a:rPr sz="2400" b="1" i="0">
                <a:solidFill>
                  <a:srgbClr val="1F3864"/>
                </a:solidFill>
                <a:latin typeface="Times New Roman"/>
              </a:rPr>
              <a:t>Inflection</a:t>
            </a:r>
          </a:p>
          <a:p>
            <a:pPr algn="l">
              <a:spcAft>
                <a:spcPts val="9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Same word, different grammatical form</a:t>
            </a:r>
          </a:p>
          <a:p>
            <a:pPr algn="l">
              <a:spcAft>
                <a:spcPts val="9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walk → walked</a:t>
            </a:r>
          </a:p>
          <a:p>
            <a:pPr algn="l">
              <a:spcAft>
                <a:spcPts val="9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book → books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50000" y="4200000"/>
            <a:ext cx="4300000" cy="2300000"/>
          </a:xfrm>
          <a:prstGeom prst="roundRect">
            <a:avLst>
              <a:gd name="adj" fmla="val 6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0000" tIns="60000" rIns="130000" bIns="60000" rtlCol="0" anchor="t"/>
          <a:lstStyle/>
          <a:p>
            <a:pPr algn="l">
              <a:spcAft>
                <a:spcPts val="900"/>
              </a:spcAft>
            </a:pPr>
            <a:r>
              <a:rPr sz="2400" b="1" i="0">
                <a:solidFill>
                  <a:srgbClr val="1F3864"/>
                </a:solidFill>
                <a:latin typeface="Times New Roman"/>
              </a:rPr>
              <a:t>Derivation</a:t>
            </a:r>
          </a:p>
          <a:p>
            <a:pPr algn="l">
              <a:spcAft>
                <a:spcPts val="9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A new word, often a new class</a:t>
            </a:r>
          </a:p>
          <a:p>
            <a:pPr algn="l">
              <a:spcAft>
                <a:spcPts val="9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teach → teacher</a:t>
            </a:r>
          </a:p>
          <a:p>
            <a:pPr algn="l">
              <a:spcAft>
                <a:spcPts val="9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happy → unhappy</a:t>
            </a:r>
          </a:p>
        </p:txBody>
      </p:sp>
    </p:spTree>
    <p:extLst>
      <p:ext uri="{BB962C8B-B14F-4D97-AF65-F5344CB8AC3E}">
        <p14:creationId xmlns:p14="http://schemas.microsoft.com/office/powerpoint/2010/main" val="3587044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7C4707B-95E5-AC15-5FAE-BB8BD74E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484" y="18255"/>
            <a:ext cx="9300000" cy="1325563"/>
          </a:xfrm>
        </p:spPr>
        <p:txBody>
          <a:bodyPr/>
          <a:lstStyle/>
          <a:p>
            <a:r>
              <a:rPr lang="en-US" sz="44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Concepts</a:t>
            </a:r>
            <a:endParaRPr lang="en-IN" dirty="0"/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BE14C153-2D51-DB52-CEE1-128F3CD5A2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46" y="91100"/>
            <a:ext cx="1014499" cy="1179871"/>
          </a:xfrm>
          <a:prstGeom prst="rect">
            <a:avLst/>
          </a:prstGeom>
        </p:spPr>
      </p:pic>
      <p:pic>
        <p:nvPicPr>
          <p:cNvPr id="15" name="object 5">
            <a:extLst>
              <a:ext uri="{FF2B5EF4-FFF2-40B4-BE49-F238E27FC236}">
                <a16:creationId xmlns:a16="http://schemas.microsoft.com/office/drawing/2014/main" id="{F5FFAD91-94BD-EEB3-DB82-D5153B5B1A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5819" y="91099"/>
            <a:ext cx="1396181" cy="11798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EF45AD-2205-914D-6F88-AB844FAEF899}"/>
              </a:ext>
            </a:extLst>
          </p:cNvPr>
          <p:cNvSpPr txBox="1"/>
          <p:nvPr/>
        </p:nvSpPr>
        <p:spPr>
          <a:xfrm>
            <a:off x="96546" y="1524245"/>
            <a:ext cx="7050000" cy="5000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Lexeme and word form: WALK is a lexeme; walk, walks, walked and walking are its forms.</a:t>
            </a:r>
          </a:p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Paradigm: the full set of forms of a lexeme, organised by grammatical features.</a:t>
            </a:r>
          </a:p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Exponence: features are marked by suffixes, prefixes, infixes or stem change.</a:t>
            </a:r>
          </a:p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Agreement: verbs, adjectives and determiners copy gender and number from the noun.</a:t>
            </a:r>
          </a:p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Irregularity and syncretism: go → went, and one form can fill several paradigm cells.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50000" y="1650000"/>
            <a:ext cx="2075000" cy="23800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60000" rIns="110000" bIns="60000" rtlCol="0" anchor="t"/>
          <a:lstStyle/>
          <a:p>
            <a:pPr algn="l">
              <a:spcAft>
                <a:spcPts val="900"/>
              </a:spcAft>
            </a:pPr>
            <a:r>
              <a:rPr sz="2400" b="1" i="0">
                <a:solidFill>
                  <a:srgbClr val="1F3864"/>
                </a:solidFill>
                <a:latin typeface="Times New Roman"/>
              </a:rPr>
              <a:t>Tense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walk → walked</a:t>
            </a:r>
          </a:p>
          <a:p>
            <a:pPr algn="l">
              <a:spcAft>
                <a:spcPts val="900"/>
              </a:spcAft>
            </a:pPr>
            <a:r>
              <a:rPr sz="1600" b="0" i="1">
                <a:solidFill>
                  <a:srgbClr val="0E7C86"/>
                </a:solidFill>
                <a:latin typeface="Times New Roman"/>
              </a:rPr>
              <a:t>English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000" y="1650000"/>
            <a:ext cx="2075000" cy="23800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60000" rIns="110000" bIns="60000" rtlCol="0" anchor="t"/>
          <a:lstStyle/>
          <a:p>
            <a:pPr algn="l">
              <a:spcAft>
                <a:spcPts val="900"/>
              </a:spcAft>
            </a:pPr>
            <a:r>
              <a:rPr sz="2400" b="1" i="0">
                <a:solidFill>
                  <a:srgbClr val="1F3864"/>
                </a:solidFill>
                <a:latin typeface="Times New Roman"/>
              </a:rPr>
              <a:t>Number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kitap → kitaplar</a:t>
            </a:r>
          </a:p>
          <a:p>
            <a:pPr algn="l">
              <a:spcAft>
                <a:spcPts val="900"/>
              </a:spcAft>
            </a:pPr>
            <a:r>
              <a:rPr sz="1600" b="0" i="1">
                <a:solidFill>
                  <a:srgbClr val="0E7C86"/>
                </a:solidFill>
                <a:latin typeface="Times New Roman"/>
              </a:rPr>
              <a:t>Turkish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50000" y="4180000"/>
            <a:ext cx="2075000" cy="23800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60000" rIns="110000" bIns="60000" rtlCol="0" anchor="t"/>
          <a:lstStyle/>
          <a:p>
            <a:pPr algn="l">
              <a:spcAft>
                <a:spcPts val="900"/>
              </a:spcAft>
            </a:pPr>
            <a:r>
              <a:rPr sz="2400" b="1" i="0">
                <a:solidFill>
                  <a:srgbClr val="1F3864"/>
                </a:solidFill>
                <a:latin typeface="Times New Roman"/>
              </a:rPr>
              <a:t>Gender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niño → niña</a:t>
            </a:r>
          </a:p>
          <a:p>
            <a:pPr algn="l">
              <a:spcAft>
                <a:spcPts val="900"/>
              </a:spcAft>
            </a:pPr>
            <a:r>
              <a:rPr sz="1600" b="0" i="1">
                <a:solidFill>
                  <a:srgbClr val="0E7C86"/>
                </a:solidFill>
                <a:latin typeface="Times New Roman"/>
              </a:rPr>
              <a:t>Spanish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000" y="4180000"/>
            <a:ext cx="2075000" cy="23800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60000" rIns="110000" bIns="60000" rtlCol="0" anchor="t"/>
          <a:lstStyle/>
          <a:p>
            <a:pPr algn="l">
              <a:spcAft>
                <a:spcPts val="900"/>
              </a:spcAft>
            </a:pPr>
            <a:r>
              <a:rPr sz="2400" b="1" i="0">
                <a:solidFill>
                  <a:srgbClr val="1F3864"/>
                </a:solidFill>
                <a:latin typeface="Times New Roman"/>
              </a:rPr>
              <a:t>Case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der Tisch → dem Tisch</a:t>
            </a:r>
          </a:p>
          <a:p>
            <a:pPr algn="l">
              <a:spcAft>
                <a:spcPts val="900"/>
              </a:spcAft>
            </a:pPr>
            <a:r>
              <a:rPr sz="1600" b="0" i="1">
                <a:solidFill>
                  <a:srgbClr val="0E7C86"/>
                </a:solidFill>
                <a:latin typeface="Times New Roman"/>
              </a:rPr>
              <a:t>German</a:t>
            </a:r>
          </a:p>
        </p:txBody>
      </p:sp>
    </p:spTree>
    <p:extLst>
      <p:ext uri="{BB962C8B-B14F-4D97-AF65-F5344CB8AC3E}">
        <p14:creationId xmlns:p14="http://schemas.microsoft.com/office/powerpoint/2010/main" val="3587044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7C4707B-95E5-AC15-5FAE-BB8BD74E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484" y="18255"/>
            <a:ext cx="9300000" cy="1325563"/>
          </a:xfrm>
        </p:spPr>
        <p:txBody>
          <a:bodyPr/>
          <a:lstStyle/>
          <a:p>
            <a:r>
              <a:rPr lang="en-US" sz="44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Literature Review</a:t>
            </a:r>
            <a:endParaRPr lang="en-IN" dirty="0"/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BE14C153-2D51-DB52-CEE1-128F3CD5A2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46" y="91100"/>
            <a:ext cx="1014499" cy="1179871"/>
          </a:xfrm>
          <a:prstGeom prst="rect">
            <a:avLst/>
          </a:prstGeom>
        </p:spPr>
      </p:pic>
      <p:pic>
        <p:nvPicPr>
          <p:cNvPr id="15" name="object 5">
            <a:extLst>
              <a:ext uri="{FF2B5EF4-FFF2-40B4-BE49-F238E27FC236}">
                <a16:creationId xmlns:a16="http://schemas.microsoft.com/office/drawing/2014/main" id="{F5FFAD91-94BD-EEB3-DB82-D5153B5B1A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5819" y="91099"/>
            <a:ext cx="1396181" cy="1179871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0000" y="1400000"/>
          <a:ext cx="11189997" cy="5040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586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05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511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3864"/>
                          </a:solidFill>
                          <a:latin typeface="Times New Roman"/>
                        </a:rPr>
                        <a:t>S.No</a:t>
                      </a:r>
                    </a:p>
                  </a:txBody>
                  <a:tcPr marL="70000" marR="70000" marT="30000" marB="30000" anchor="ctr"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3864"/>
                          </a:solidFill>
                          <a:latin typeface="Times New Roman"/>
                        </a:rPr>
                        <a:t>Year</a:t>
                      </a:r>
                    </a:p>
                  </a:txBody>
                  <a:tcPr marL="70000" marR="70000" marT="30000" marB="30000" anchor="ctr"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3864"/>
                          </a:solidFill>
                          <a:latin typeface="Times New Roman"/>
                        </a:rPr>
                        <a:t>Author(s)</a:t>
                      </a:r>
                    </a:p>
                  </a:txBody>
                  <a:tcPr marL="70000" marR="70000" marT="30000" marB="30000" anchor="ctr"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3864"/>
                          </a:solidFill>
                          <a:latin typeface="Times New Roman"/>
                        </a:rPr>
                        <a:t>Work</a:t>
                      </a:r>
                    </a:p>
                  </a:txBody>
                  <a:tcPr marL="70000" marR="70000" marT="30000" marB="30000" anchor="ctr"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3864"/>
                          </a:solidFill>
                          <a:latin typeface="Times New Roman"/>
                        </a:rPr>
                        <a:t>Contribution</a:t>
                      </a:r>
                    </a:p>
                  </a:txBody>
                  <a:tcPr marL="70000" marR="70000" marT="30000" marB="30000" anchor="ctr"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3864"/>
                          </a:solidFill>
                          <a:latin typeface="Times New Roman"/>
                        </a:rPr>
                        <a:t>Gap Identified</a:t>
                      </a:r>
                    </a:p>
                  </a:txBody>
                  <a:tcPr marL="70000" marR="70000" marT="30000" marB="30000" anchor="ctr"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1983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K. Koskenniemi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Two-level Morphology (Univ. of Helsinki)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Finite-state rules for word-form analysis and generation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Rules are written by hand for each language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1985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J. Bybee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Morphology: A Study of the Relation between Meaning and Form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Cross-linguistic study of how meaning shapes inflectional categories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Descriptive, with no computational model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2001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G. Stump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Inflectional Morphology: A Theory of Paradigm Structure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Paradigm Function Morphology for realising feature bundles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Needs manual formalisation for each language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2015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J. Sylak-Glassman et al.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A Language-Independent Feature Schema for Inflectional Morphology (ACL)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Universal tag set (UniMorph) for tense, number, gender and case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Annotation scheme only; no generator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2016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M. Faruqui et al.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Morphological Inflection Generation Using Character Sequence to Sequence Learning (NAACL)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Neural encoder–decoder that generates inflected forms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Weaker on irregular forms and sparse data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2016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R. Cotterell et al.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The SIGMORPHON 2016 Shared Task: Morphological Reinflection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Shared benchmark covering 10 languages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</a:rPr>
                        <a:t>Word forms are isolated from sentence context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7044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7C4707B-95E5-AC15-5FAE-BB8BD74E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484" y="18255"/>
            <a:ext cx="9300000" cy="1325563"/>
          </a:xfrm>
        </p:spPr>
        <p:txBody>
          <a:bodyPr/>
          <a:lstStyle/>
          <a:p>
            <a:r>
              <a:rPr lang="en-US" sz="44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Algorithm Design</a:t>
            </a:r>
            <a:endParaRPr lang="en-IN" dirty="0"/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BE14C153-2D51-DB52-CEE1-128F3CD5A2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46" y="91100"/>
            <a:ext cx="1014499" cy="1179871"/>
          </a:xfrm>
          <a:prstGeom prst="rect">
            <a:avLst/>
          </a:prstGeom>
        </p:spPr>
      </p:pic>
      <p:pic>
        <p:nvPicPr>
          <p:cNvPr id="15" name="object 5">
            <a:extLst>
              <a:ext uri="{FF2B5EF4-FFF2-40B4-BE49-F238E27FC236}">
                <a16:creationId xmlns:a16="http://schemas.microsoft.com/office/drawing/2014/main" id="{F5FFAD91-94BD-EEB3-DB82-D5153B5B1A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5819" y="91099"/>
            <a:ext cx="1396181" cy="1179871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16000" y="1450000"/>
            <a:ext cx="1560000" cy="1500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60000" rIns="80000" bIns="60000" rtlCol="0" anchor="t"/>
          <a:lstStyle/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1. Input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FFFFFF"/>
                </a:solidFill>
                <a:latin typeface="Times New Roman"/>
              </a:rPr>
              <a:t>Lemma and feature tags, e.g. V; PST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316000" y="2090000"/>
            <a:ext cx="200000" cy="22000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556000" y="1450000"/>
            <a:ext cx="1560000" cy="15000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60000" rIns="80000" bIns="60000" rtlCol="0" anchor="t"/>
          <a:lstStyle/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1F3864"/>
                </a:solidFill>
                <a:latin typeface="Times New Roman"/>
              </a:rPr>
              <a:t>2. Class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Detect the paradigm class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56000" y="2090000"/>
            <a:ext cx="200000" cy="22000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396000" y="1450000"/>
            <a:ext cx="1560000" cy="15000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60000" rIns="80000" bIns="60000" rtlCol="0" anchor="t"/>
          <a:lstStyle/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1F3864"/>
                </a:solidFill>
                <a:latin typeface="Times New Roman"/>
              </a:rPr>
              <a:t>3. Exceptions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Look up irregular forms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96000" y="2090000"/>
            <a:ext cx="200000" cy="22000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36000" y="1450000"/>
            <a:ext cx="1560000" cy="15000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60000" rIns="80000" bIns="60000" rtlCol="0" anchor="t"/>
          <a:lstStyle/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1F3864"/>
                </a:solidFill>
                <a:latin typeface="Times New Roman"/>
              </a:rPr>
              <a:t>4. Rules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Change stem and pick affix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836000" y="2090000"/>
            <a:ext cx="200000" cy="22000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076000" y="1450000"/>
            <a:ext cx="1560000" cy="15000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60000" rIns="80000" bIns="60000" rtlCol="0" anchor="t"/>
          <a:lstStyle/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1F3864"/>
                </a:solidFill>
                <a:latin typeface="Times New Roman"/>
              </a:rPr>
              <a:t>5. Adjust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Apply agreement and sound rules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676000" y="2090000"/>
            <a:ext cx="200000" cy="22000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916000" y="1450000"/>
            <a:ext cx="1560000" cy="1500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60000" rIns="80000" bIns="60000" rtlCol="0" anchor="t"/>
          <a:lstStyle/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6. Output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FFFFFF"/>
                </a:solidFill>
                <a:latin typeface="Times New Roman"/>
              </a:rPr>
              <a:t>Inflected word form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0000" y="3300000"/>
            <a:ext cx="6500000" cy="32500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158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t"/>
          <a:lstStyle/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1F3864"/>
                </a:solidFill>
                <a:latin typeface="Times New Roman"/>
              </a:rPr>
              <a:t>Generation: lemma + features → form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000000"/>
                </a:solidFill>
                <a:latin typeface="Courier New"/>
              </a:rPr>
              <a:t>def inflect(lemma, feats):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000000"/>
                </a:solidFill>
                <a:latin typeface="Courier New"/>
              </a:rPr>
              <a:t>    if (lemma, feats) in IRREGULAR: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000000"/>
                </a:solidFill>
                <a:latin typeface="Courier New"/>
              </a:rPr>
              <a:t>        return IRREGULAR[(lemma, feats)]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000000"/>
                </a:solidFill>
                <a:latin typeface="Courier New"/>
              </a:rPr>
              <a:t>    cls   = paradigm_class(lemma)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000000"/>
                </a:solidFill>
                <a:latin typeface="Courier New"/>
              </a:rPr>
              <a:t>    stem  = stem_change(lemma, cls, feats)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000000"/>
                </a:solidFill>
                <a:latin typeface="Courier New"/>
              </a:rPr>
              <a:t>    affix = AFFIXES[cls][feats]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000000"/>
                </a:solidFill>
                <a:latin typeface="Courier New"/>
              </a:rPr>
              <a:t>    return adjust(stem + affix)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0000" y="3300000"/>
            <a:ext cx="4450000" cy="32500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0000" tIns="60000" rIns="130000" bIns="60000" rtlCol="0" anchor="t"/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Times New Roman"/>
              </a:rPr>
              <a:t>Analysis: form → lemma + features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Strip each candidate affix from the word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Match the remaining stem in the lexicon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Return every (lemma, tags) pair that fits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Rank ambiguous parses using context</a:t>
            </a:r>
          </a:p>
        </p:txBody>
      </p:sp>
    </p:spTree>
    <p:extLst>
      <p:ext uri="{BB962C8B-B14F-4D97-AF65-F5344CB8AC3E}">
        <p14:creationId xmlns:p14="http://schemas.microsoft.com/office/powerpoint/2010/main" val="3587044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7C4707B-95E5-AC15-5FAE-BB8BD74E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484" y="18255"/>
            <a:ext cx="9300000" cy="1325563"/>
          </a:xfrm>
        </p:spPr>
        <p:txBody>
          <a:bodyPr/>
          <a:lstStyle/>
          <a:p>
            <a:r>
              <a:rPr lang="en-US" sz="44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Models</a:t>
            </a:r>
            <a:endParaRPr lang="en-IN" dirty="0"/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BE14C153-2D51-DB52-CEE1-128F3CD5A2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46" y="91100"/>
            <a:ext cx="1014499" cy="1179871"/>
          </a:xfrm>
          <a:prstGeom prst="rect">
            <a:avLst/>
          </a:prstGeom>
        </p:spPr>
      </p:pic>
      <p:pic>
        <p:nvPicPr>
          <p:cNvPr id="15" name="object 5">
            <a:extLst>
              <a:ext uri="{FF2B5EF4-FFF2-40B4-BE49-F238E27FC236}">
                <a16:creationId xmlns:a16="http://schemas.microsoft.com/office/drawing/2014/main" id="{F5FFAD91-94BD-EEB3-DB82-D5153B5B1A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5819" y="91099"/>
            <a:ext cx="1396181" cy="1179871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46000" y="1450000"/>
            <a:ext cx="3600000" cy="650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0000" bIns="60000" rtlCol="0" anchor="ctr"/>
          <a:lstStyle/>
          <a:p>
            <a:pPr algn="ctr">
              <a:spcAft>
                <a:spcPts val="90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Rule-based (finite-state)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6000" y="2100000"/>
            <a:ext cx="3600000" cy="3250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0000" tIns="60000" rIns="130000" bIns="60000" rtlCol="0" anchor="t"/>
          <a:lstStyle/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0E7C86"/>
                </a:solidFill>
                <a:latin typeface="Times New Roman"/>
              </a:rPr>
              <a:t>Approach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Two-level rules map lemma and tags to the surface form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0E7C86"/>
                </a:solidFill>
                <a:latin typeface="Times New Roman"/>
              </a:rPr>
              <a:t>Strength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Precise and transparent for regular patterns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0E7C86"/>
                </a:solidFill>
                <a:latin typeface="Times New Roman"/>
              </a:rPr>
              <a:t>Limitation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Costly to write; brittle on irregular forms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6000" y="1450000"/>
            <a:ext cx="3600000" cy="650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0000" bIns="60000" rtlCol="0" anchor="ctr"/>
          <a:lstStyle/>
          <a:p>
            <a:pPr algn="ctr">
              <a:spcAft>
                <a:spcPts val="90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Paradigm-based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6000" y="2100000"/>
            <a:ext cx="3600000" cy="3250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0000" tIns="60000" rIns="130000" bIns="60000" rtlCol="0" anchor="t"/>
          <a:lstStyle/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0E7C86"/>
                </a:solidFill>
                <a:latin typeface="Times New Roman"/>
              </a:rPr>
              <a:t>Approach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Generates full inflection tables for each class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0E7C86"/>
                </a:solidFill>
                <a:latin typeface="Times New Roman"/>
              </a:rPr>
              <a:t>Strength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Handles irregularity and syncretism naturally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0E7C86"/>
                </a:solidFill>
                <a:latin typeface="Times New Roman"/>
              </a:rPr>
              <a:t>Limitation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Needs a lexicon labelled with classes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6000" y="1450000"/>
            <a:ext cx="3600000" cy="650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0000" bIns="60000" rtlCol="0" anchor="ctr"/>
          <a:lstStyle/>
          <a:p>
            <a:pPr algn="ctr">
              <a:spcAft>
                <a:spcPts val="90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Neural (seq2seq, Transformer)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46000" y="2100000"/>
            <a:ext cx="3600000" cy="3250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0000" tIns="60000" rIns="130000" bIns="60000" rtlCol="0" anchor="t"/>
          <a:lstStyle/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0E7C86"/>
                </a:solidFill>
                <a:latin typeface="Times New Roman"/>
              </a:rPr>
              <a:t>Approach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Character-level encoder–decoder learns from examples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0E7C86"/>
                </a:solidFill>
                <a:latin typeface="Times New Roman"/>
              </a:rPr>
              <a:t>Strength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Generalises to unseen lemmas with little engineering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0E7C86"/>
                </a:solidFill>
                <a:latin typeface="Times New Roman"/>
              </a:rPr>
              <a:t>Limitation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Needs data; can over-regularise (goed)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6000" y="5600000"/>
            <a:ext cx="11300000" cy="850000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0000" bIns="60000" rtlCol="0" anchor="ctr"/>
          <a:lstStyle/>
          <a:p>
            <a:pPr algn="ctr">
              <a:spcAft>
                <a:spcPts val="90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</a:rPr>
              <a:t>Suggested approach: rules and paradigms for regular forms, a learned model for exceptions</a:t>
            </a:r>
          </a:p>
        </p:txBody>
      </p:sp>
    </p:spTree>
    <p:extLst>
      <p:ext uri="{BB962C8B-B14F-4D97-AF65-F5344CB8AC3E}">
        <p14:creationId xmlns:p14="http://schemas.microsoft.com/office/powerpoint/2010/main" val="3587044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7C4707B-95E5-AC15-5FAE-BB8BD74E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484" y="18255"/>
            <a:ext cx="9300000" cy="1325563"/>
          </a:xfrm>
        </p:spPr>
        <p:txBody>
          <a:bodyPr/>
          <a:lstStyle/>
          <a:p>
            <a:r>
              <a:rPr lang="en-US" sz="44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Technical Analysis</a:t>
            </a:r>
            <a:endParaRPr lang="en-IN" dirty="0"/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BE14C153-2D51-DB52-CEE1-128F3CD5A2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46" y="91100"/>
            <a:ext cx="1014499" cy="1179871"/>
          </a:xfrm>
          <a:prstGeom prst="rect">
            <a:avLst/>
          </a:prstGeom>
        </p:spPr>
      </p:pic>
      <p:pic>
        <p:nvPicPr>
          <p:cNvPr id="15" name="object 5">
            <a:extLst>
              <a:ext uri="{FF2B5EF4-FFF2-40B4-BE49-F238E27FC236}">
                <a16:creationId xmlns:a16="http://schemas.microsoft.com/office/drawing/2014/main" id="{F5FFAD91-94BD-EEB3-DB82-D5153B5B1A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5819" y="91099"/>
            <a:ext cx="1396181" cy="11798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EF45AD-2205-914D-6F88-AB844FAEF899}"/>
              </a:ext>
            </a:extLst>
          </p:cNvPr>
          <p:cNvSpPr txBox="1"/>
          <p:nvPr/>
        </p:nvSpPr>
        <p:spPr>
          <a:xfrm>
            <a:off x="96546" y="1524245"/>
            <a:ext cx="6900000" cy="5000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 exact-match accuracy, edit distance, and accuracy per feature (tense, number, gender, case).</a:t>
            </a:r>
          </a:p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errors: over-regularisation (goed), wrong allomorph, and the wrong choice among syncretic forms.</a:t>
            </a:r>
          </a:p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and paradigm methods run in time linear in word length; neural decoding takes one step per output character.</a:t>
            </a:r>
          </a:p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Richer morphology means larger paradigms and sparser data for each 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0000" y="1450000"/>
            <a:ext cx="4600000" cy="400000"/>
          </a:xfrm>
          <a:prstGeom prst="rect">
            <a:avLst/>
          </a:prstGeom>
          <a:noFill/>
        </p:spPr>
        <p:txBody>
          <a:bodyPr wrap="square" lIns="0" tIns="60000" rIns="0" bIns="6000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Times New Roman"/>
              </a:rPr>
              <a:t>Typological complexity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300000" y="1900000"/>
          <a:ext cx="4599999" cy="4320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095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3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3864"/>
                          </a:solidFill>
                          <a:latin typeface="Times New Roman"/>
                        </a:rPr>
                        <a:t>Language</a:t>
                      </a:r>
                    </a:p>
                  </a:txBody>
                  <a:tcPr marL="70000" marR="70000" marT="30000" marB="30000" anchor="ctr"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3864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70000" marR="70000" marT="30000" marB="30000" anchor="ctr"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1F3864"/>
                          </a:solidFill>
                          <a:latin typeface="Times New Roman"/>
                        </a:rPr>
                        <a:t>Paradigm size</a:t>
                      </a:r>
                    </a:p>
                  </a:txBody>
                  <a:tcPr marL="70000" marR="70000" marT="30000" marB="30000" anchor="ctr"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English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Fusional (light)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Verb: 4–5 forms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Spanish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Fusional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Verb: 50+ forms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Russian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Fusional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Noun: 6 cases × 2 numbers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Finnish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Agglutinative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Noun: about 15 cases × 2 numbers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Turkish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Agglutinative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</a:rPr>
                        <a:t>Verb: hundreds of forms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7044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7C4707B-95E5-AC15-5FAE-BB8BD74E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484" y="18255"/>
            <a:ext cx="9300000" cy="1325563"/>
          </a:xfrm>
        </p:spPr>
        <p:txBody>
          <a:bodyPr/>
          <a:lstStyle/>
          <a:p>
            <a:r>
              <a:rPr lang="en-US" sz="44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Demonstration</a:t>
            </a:r>
            <a:endParaRPr lang="en-IN" dirty="0"/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BE14C153-2D51-DB52-CEE1-128F3CD5A2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46" y="91100"/>
            <a:ext cx="1014499" cy="1179871"/>
          </a:xfrm>
          <a:prstGeom prst="rect">
            <a:avLst/>
          </a:prstGeom>
        </p:spPr>
      </p:pic>
      <p:pic>
        <p:nvPicPr>
          <p:cNvPr id="15" name="object 5">
            <a:extLst>
              <a:ext uri="{FF2B5EF4-FFF2-40B4-BE49-F238E27FC236}">
                <a16:creationId xmlns:a16="http://schemas.microsoft.com/office/drawing/2014/main" id="{F5FFAD91-94BD-EEB3-DB82-D5153B5B1A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5819" y="91099"/>
            <a:ext cx="1396181" cy="1179871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00000" y="1400000"/>
          <a:ext cx="10799998" cy="3840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542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1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1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5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42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F3864"/>
                          </a:solidFill>
                          <a:latin typeface="Times New Roman"/>
                        </a:rPr>
                        <a:t>Lemma</a:t>
                      </a:r>
                    </a:p>
                  </a:txBody>
                  <a:tcPr marL="70000" marR="70000" marT="30000" marB="30000" anchor="ctr"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F3864"/>
                          </a:solidFill>
                          <a:latin typeface="Times New Roman"/>
                        </a:rPr>
                        <a:t>Language</a:t>
                      </a:r>
                    </a:p>
                  </a:txBody>
                  <a:tcPr marL="70000" marR="70000" marT="30000" marB="30000" anchor="ctr"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F3864"/>
                          </a:solidFill>
                          <a:latin typeface="Times New Roman"/>
                        </a:rPr>
                        <a:t>Features</a:t>
                      </a:r>
                    </a:p>
                  </a:txBody>
                  <a:tcPr marL="70000" marR="70000" marT="30000" marB="30000" anchor="ctr"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F3864"/>
                          </a:solidFill>
                          <a:latin typeface="Times New Roman"/>
                        </a:rPr>
                        <a:t>Inflected form</a:t>
                      </a:r>
                    </a:p>
                  </a:txBody>
                  <a:tcPr marL="70000" marR="70000" marT="30000" marB="30000" anchor="ctr"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F3864"/>
                          </a:solidFill>
                          <a:latin typeface="Times New Roman"/>
                        </a:rPr>
                        <a:t>Process</a:t>
                      </a:r>
                    </a:p>
                  </a:txBody>
                  <a:tcPr marL="70000" marR="70000" marT="30000" marB="30000" anchor="ctr"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walk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English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V; PST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walked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suffix -ed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child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English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N; PL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children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irregular plural -ren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niño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Spanish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N; FEM; SG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niña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ending -o → -a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hablar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Spanish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V; PST; 1SG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hablé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stem + -é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Tisch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German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N; DAT; PL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Tischen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suffix -en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книга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Russian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N; GEN; SG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книги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ending -а → -и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ev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Turkish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N; PL; ABL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evlerden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ev + -ler + -den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00000" y="5500000"/>
            <a:ext cx="10800000" cy="10000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60000" rIns="150000" bIns="60000" rtlCol="0" anchor="ctr"/>
          <a:lstStyle/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1F3864"/>
                </a:solidFill>
                <a:latin typeface="Times New Roman"/>
              </a:rPr>
              <a:t>Walk-through: ev (house) + PL → evler; + ABL → evlerden (from the houses)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The same pipeline applies a feature-to-affix table, then adjusts for vowel harmony.</a:t>
            </a:r>
          </a:p>
        </p:txBody>
      </p:sp>
    </p:spTree>
    <p:extLst>
      <p:ext uri="{BB962C8B-B14F-4D97-AF65-F5344CB8AC3E}">
        <p14:creationId xmlns:p14="http://schemas.microsoft.com/office/powerpoint/2010/main" val="3587044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7C4707B-95E5-AC15-5FAE-BB8BD74E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484" y="27399"/>
            <a:ext cx="9300000" cy="1325563"/>
          </a:xfrm>
        </p:spPr>
        <p:txBody>
          <a:bodyPr/>
          <a:lstStyle/>
          <a:p>
            <a:r>
              <a:rPr lang="en-US" sz="44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Case Study</a:t>
            </a:r>
            <a:endParaRPr lang="en-IN" dirty="0"/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BE14C153-2D51-DB52-CEE1-128F3CD5A2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46" y="91100"/>
            <a:ext cx="1014499" cy="1179871"/>
          </a:xfrm>
          <a:prstGeom prst="rect">
            <a:avLst/>
          </a:prstGeom>
        </p:spPr>
      </p:pic>
      <p:pic>
        <p:nvPicPr>
          <p:cNvPr id="15" name="object 5">
            <a:extLst>
              <a:ext uri="{FF2B5EF4-FFF2-40B4-BE49-F238E27FC236}">
                <a16:creationId xmlns:a16="http://schemas.microsoft.com/office/drawing/2014/main" id="{F5FFAD91-94BD-EEB3-DB82-D5153B5B1A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5819" y="91099"/>
            <a:ext cx="1396181" cy="11798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EF45AD-2205-914D-6F88-AB844FAEF899}"/>
              </a:ext>
            </a:extLst>
          </p:cNvPr>
          <p:cNvSpPr txBox="1"/>
          <p:nvPr/>
        </p:nvSpPr>
        <p:spPr>
          <a:xfrm>
            <a:off x="96546" y="1524245"/>
            <a:ext cx="6900000" cy="5000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Russian noun книга ('book'), a feminine noun of the -а declension.</a:t>
            </a:r>
          </a:p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and number are fused into one ending, as in other fusional languages.</a:t>
            </a:r>
          </a:p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Syncretism: the ending -и fills three cells (genitive singular, nominative and accusative plural).</a:t>
            </a:r>
          </a:p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genitive plural has a zero ending (книг), so a model must learn that no suffix can carry meaning.</a:t>
            </a:r>
          </a:p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decides the declension class and drives adjective agreement.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400000" y="1650000"/>
          <a:ext cx="4500000" cy="3920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F3864"/>
                          </a:solidFill>
                          <a:latin typeface="Times New Roman"/>
                        </a:rPr>
                        <a:t>Case</a:t>
                      </a:r>
                    </a:p>
                  </a:txBody>
                  <a:tcPr marL="70000" marR="70000" marT="30000" marB="30000" anchor="ctr"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F3864"/>
                          </a:solidFill>
                          <a:latin typeface="Times New Roman"/>
                        </a:rPr>
                        <a:t>Singular</a:t>
                      </a:r>
                    </a:p>
                  </a:txBody>
                  <a:tcPr marL="70000" marR="70000" marT="30000" marB="30000" anchor="ctr"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1F3864"/>
                          </a:solidFill>
                          <a:latin typeface="Times New Roman"/>
                        </a:rPr>
                        <a:t>Plural</a:t>
                      </a:r>
                    </a:p>
                  </a:txBody>
                  <a:tcPr marL="70000" marR="70000" marT="30000" marB="30000" anchor="ctr"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Nominative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книга</a:t>
                      </a:r>
                      <a:endParaRPr sz="1600" b="0" i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книги</a:t>
                      </a:r>
                    </a:p>
                  </a:txBody>
                  <a:tcPr marL="70000" marR="70000" marT="30000" marB="30000" anchor="ctr">
                    <a:solidFill>
                      <a:srgbClr val="FFF1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Genitive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книги</a:t>
                      </a:r>
                    </a:p>
                  </a:txBody>
                  <a:tcPr marL="70000" marR="70000" marT="30000" marB="30000" anchor="ctr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книг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Dative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книге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книгам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Accusative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книгу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книги</a:t>
                      </a:r>
                    </a:p>
                  </a:txBody>
                  <a:tcPr marL="70000" marR="70000" marT="30000" marB="30000" anchor="ctr">
                    <a:solidFill>
                      <a:srgbClr val="FFF1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Instrumental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книгой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книгами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Prepositional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</a:rPr>
                        <a:t>книге</a:t>
                      </a:r>
                    </a:p>
                  </a:txBody>
                  <a:tcPr marL="70000" marR="70000"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книгах</a:t>
                      </a:r>
                      <a:endParaRPr sz="1600" b="0" i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70000" marR="70000"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400000" y="5700000"/>
            <a:ext cx="4500000" cy="500000"/>
          </a:xfrm>
          <a:prstGeom prst="rect">
            <a:avLst/>
          </a:prstGeom>
          <a:noFill/>
        </p:spPr>
        <p:txBody>
          <a:bodyPr wrap="square" lIns="0" tIns="60000" rIns="0" bIns="6000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 i="1">
                <a:solidFill>
                  <a:srgbClr val="0E7C86"/>
                </a:solidFill>
                <a:latin typeface="Times New Roman"/>
              </a:rPr>
              <a:t>Highlighted: one form, three cells</a:t>
            </a:r>
          </a:p>
        </p:txBody>
      </p:sp>
    </p:spTree>
    <p:extLst>
      <p:ext uri="{BB962C8B-B14F-4D97-AF65-F5344CB8AC3E}">
        <p14:creationId xmlns:p14="http://schemas.microsoft.com/office/powerpoint/2010/main" val="3587044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7C4707B-95E5-AC15-5FAE-BB8BD74E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484" y="18255"/>
            <a:ext cx="9300000" cy="1325563"/>
          </a:xfrm>
        </p:spPr>
        <p:txBody>
          <a:bodyPr/>
          <a:lstStyle/>
          <a:p>
            <a:r>
              <a:rPr lang="en-US" sz="44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Applications</a:t>
            </a:r>
            <a:endParaRPr lang="en-IN" dirty="0"/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BE14C153-2D51-DB52-CEE1-128F3CD5A2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46" y="91100"/>
            <a:ext cx="1014499" cy="1179871"/>
          </a:xfrm>
          <a:prstGeom prst="rect">
            <a:avLst/>
          </a:prstGeom>
        </p:spPr>
      </p:pic>
      <p:pic>
        <p:nvPicPr>
          <p:cNvPr id="15" name="object 5">
            <a:extLst>
              <a:ext uri="{FF2B5EF4-FFF2-40B4-BE49-F238E27FC236}">
                <a16:creationId xmlns:a16="http://schemas.microsoft.com/office/drawing/2014/main" id="{F5FFAD91-94BD-EEB3-DB82-D5153B5B1A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5819" y="91099"/>
            <a:ext cx="1396181" cy="1179871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46000" y="1450000"/>
            <a:ext cx="3600000" cy="23000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60000" rIns="140000" bIns="60000" rtlCol="0" anchor="t"/>
          <a:lstStyle/>
          <a:p>
            <a:pPr algn="l">
              <a:spcAft>
                <a:spcPts val="9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</a:rPr>
              <a:t>Machine Translation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Produces correctly inflected, agreeing output in morphologically rich languages.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6000" y="1450000"/>
            <a:ext cx="3600000" cy="23000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60000" rIns="140000" bIns="60000" rtlCol="0" anchor="t"/>
          <a:lstStyle/>
          <a:p>
            <a:pPr algn="l">
              <a:spcAft>
                <a:spcPts val="9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</a:rPr>
              <a:t>Search and Retrieval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Lemmatisation matches walked and walking to the query walk.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6000" y="1450000"/>
            <a:ext cx="3600000" cy="23000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60000" rIns="140000" bIns="60000" rtlCol="0" anchor="t"/>
          <a:lstStyle/>
          <a:p>
            <a:pPr algn="l">
              <a:spcAft>
                <a:spcPts val="9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</a:rPr>
              <a:t>Grammar Checking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Detects wrong agreement, tense or case endings.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6000" y="4000000"/>
            <a:ext cx="3600000" cy="23000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60000" rIns="140000" bIns="60000" rtlCol="0" anchor="t"/>
          <a:lstStyle/>
          <a:p>
            <a:pPr algn="l">
              <a:spcAft>
                <a:spcPts val="9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</a:rPr>
              <a:t>Speech Technology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Models stems and endings to cope with huge word-form vocabularies.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6000" y="4000000"/>
            <a:ext cx="3600000" cy="23000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60000" rIns="140000" bIns="60000" rtlCol="0" anchor="t"/>
          <a:lstStyle/>
          <a:p>
            <a:pPr algn="l">
              <a:spcAft>
                <a:spcPts val="9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</a:rPr>
              <a:t>Language Learning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Generates drills and paradigm tables for learners.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6000" y="4000000"/>
            <a:ext cx="3600000" cy="23000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0000" tIns="60000" rIns="140000" bIns="60000" rtlCol="0" anchor="t"/>
          <a:lstStyle/>
          <a:p>
            <a:pPr algn="l">
              <a:spcAft>
                <a:spcPts val="900"/>
              </a:spcAft>
            </a:pPr>
            <a:r>
              <a:rPr sz="2200" b="1" i="0">
                <a:solidFill>
                  <a:srgbClr val="1F3864"/>
                </a:solidFill>
                <a:latin typeface="Times New Roman"/>
              </a:rPr>
              <a:t>Low-Resource Languages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Builds analysers and dictionaries for under-documented languages.</a:t>
            </a:r>
          </a:p>
        </p:txBody>
      </p:sp>
    </p:spTree>
    <p:extLst>
      <p:ext uri="{BB962C8B-B14F-4D97-AF65-F5344CB8AC3E}">
        <p14:creationId xmlns:p14="http://schemas.microsoft.com/office/powerpoint/2010/main" val="3587044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7C4707B-95E5-AC15-5FAE-BB8BD74E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484" y="18255"/>
            <a:ext cx="9300000" cy="1325563"/>
          </a:xfrm>
        </p:spPr>
        <p:txBody>
          <a:bodyPr/>
          <a:lstStyle/>
          <a:p>
            <a:r>
              <a:rPr lang="en-US" sz="44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Conclusion</a:t>
            </a:r>
            <a:endParaRPr lang="en-IN" dirty="0"/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BE14C153-2D51-DB52-CEE1-128F3CD5A2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46" y="91100"/>
            <a:ext cx="1014499" cy="1179871"/>
          </a:xfrm>
          <a:prstGeom prst="rect">
            <a:avLst/>
          </a:prstGeom>
        </p:spPr>
      </p:pic>
      <p:pic>
        <p:nvPicPr>
          <p:cNvPr id="15" name="object 5">
            <a:extLst>
              <a:ext uri="{FF2B5EF4-FFF2-40B4-BE49-F238E27FC236}">
                <a16:creationId xmlns:a16="http://schemas.microsoft.com/office/drawing/2014/main" id="{F5FFAD91-94BD-EEB3-DB82-D5153B5B1A2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5819" y="91099"/>
            <a:ext cx="1396181" cy="11798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EF45AD-2205-914D-6F88-AB844FAEF899}"/>
              </a:ext>
            </a:extLst>
          </p:cNvPr>
          <p:cNvSpPr txBox="1"/>
          <p:nvPr/>
        </p:nvSpPr>
        <p:spPr>
          <a:xfrm>
            <a:off x="96546" y="1524245"/>
            <a:ext cx="6900000" cy="5000000"/>
          </a:xfrm>
          <a:prstGeom prst="rect">
            <a:avLst/>
          </a:prstGeom>
          <a:noFill/>
        </p:spPr>
        <p:txBody>
          <a:bodyPr wrap="square" rtlCol="0"/>
          <a:lstStyle/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Inflection expresses tense, number, gender and case through systematic but often irregular changes to word forms.</a:t>
            </a:r>
          </a:p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 differ widely, from light English endings to the rich paradigms of Russian and Turkish.</a:t>
            </a:r>
          </a:p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Rule-based, paradigm-based and neural models each have strengths; combining them handles regular and irregular forms best.</a:t>
            </a:r>
          </a:p>
          <a:p>
            <a:pPr marL="285750" lvl="0" indent="-285750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inflection supports translation, search, grammar checking and language learning.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50000" y="1650000"/>
            <a:ext cx="4300000" cy="44000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0000" tIns="60000" rIns="130000" bIns="60000" rtlCol="0" anchor="t"/>
          <a:lstStyle/>
          <a:p>
            <a:pPr algn="l">
              <a:spcAft>
                <a:spcPts val="900"/>
              </a:spcAft>
            </a:pPr>
            <a:r>
              <a:rPr sz="2800" b="1" i="0">
                <a:solidFill>
                  <a:srgbClr val="1F3864"/>
                </a:solidFill>
                <a:latin typeface="Times New Roman"/>
              </a:rPr>
              <a:t>Future Scope</a:t>
            </a:r>
          </a:p>
          <a:p>
            <a:pPr algn="l">
              <a:spcAft>
                <a:spcPts val="900"/>
              </a:spcAft>
            </a:pPr>
            <a:r>
              <a:rPr sz="2200" b="0" i="0">
                <a:solidFill>
                  <a:srgbClr val="000000"/>
                </a:solidFill>
                <a:latin typeface="Times New Roman"/>
              </a:rPr>
              <a:t>Extend to more low-resource languages</a:t>
            </a:r>
          </a:p>
          <a:p>
            <a:pPr algn="l">
              <a:spcAft>
                <a:spcPts val="900"/>
              </a:spcAft>
            </a:pPr>
            <a:r>
              <a:rPr sz="2200" b="0" i="0">
                <a:solidFill>
                  <a:srgbClr val="000000"/>
                </a:solidFill>
                <a:latin typeface="Times New Roman"/>
              </a:rPr>
              <a:t>Use sentence context to resolve syncretic forms</a:t>
            </a:r>
          </a:p>
          <a:p>
            <a:pPr algn="l">
              <a:spcAft>
                <a:spcPts val="900"/>
              </a:spcAft>
            </a:pPr>
            <a:r>
              <a:rPr sz="2200" b="0" i="0">
                <a:solidFill>
                  <a:srgbClr val="000000"/>
                </a:solidFill>
                <a:latin typeface="Times New Roman"/>
              </a:rPr>
              <a:t>Build an interactive inflection tool</a:t>
            </a:r>
          </a:p>
        </p:txBody>
      </p:sp>
    </p:spTree>
    <p:extLst>
      <p:ext uri="{BB962C8B-B14F-4D97-AF65-F5344CB8AC3E}">
        <p14:creationId xmlns:p14="http://schemas.microsoft.com/office/powerpoint/2010/main" val="3587044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1237</Words>
  <Application>Microsoft Office PowerPoint</Application>
  <PresentationFormat>Widescreen</PresentationFormat>
  <Paragraphs>252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Times New Roman</vt:lpstr>
      <vt:lpstr>Office Theme</vt:lpstr>
      <vt:lpstr>PowerPoint Presentation</vt:lpstr>
      <vt:lpstr>Theory</vt:lpstr>
      <vt:lpstr>Concepts</vt:lpstr>
      <vt:lpstr>Literature Review</vt:lpstr>
      <vt:lpstr>Algorithm Design</vt:lpstr>
      <vt:lpstr>Models</vt:lpstr>
      <vt:lpstr>Technical Analysis</vt:lpstr>
      <vt:lpstr>Demonstration</vt:lpstr>
      <vt:lpstr>Case Study</vt:lpstr>
      <vt:lpstr>Applications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uday kumar reddy rachapalli</dc:creator>
  <cp:lastModifiedBy>vinay kandala</cp:lastModifiedBy>
  <cp:revision>4</cp:revision>
  <dcterms:created xsi:type="dcterms:W3CDTF">2026-08-02T13:00:05Z</dcterms:created>
  <dcterms:modified xsi:type="dcterms:W3CDTF">2026-10-13T08:08:44Z</dcterms:modified>
</cp:coreProperties>
</file>